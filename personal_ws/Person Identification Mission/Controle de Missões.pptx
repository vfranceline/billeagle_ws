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582" autoAdjust="0"/>
    <p:restoredTop sz="94660"/>
  </p:normalViewPr>
  <p:slideViewPr>
    <p:cSldViewPr snapToGrid="0">
      <p:cViewPr varScale="1">
        <p:scale>
          <a:sx n="82" d="100"/>
          <a:sy n="82" d="100"/>
        </p:scale>
        <p:origin x="96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56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91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238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471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226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5305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32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276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6381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75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831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FA49-975B-4B5B-91AD-7D23019A6E19}" type="datetimeFigureOut">
              <a:rPr lang="pt-BR" smtClean="0"/>
              <a:t>19/02/2025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25956-C455-4B85-A77A-98CCC963A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153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Controle de Missões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0623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Comunicação entre Nós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Tópicos</a:t>
            </a:r>
          </a:p>
          <a:p>
            <a:r>
              <a:rPr lang="pt-BR" dirty="0" smtClean="0"/>
              <a:t>Serviços</a:t>
            </a:r>
          </a:p>
          <a:p>
            <a:r>
              <a:rPr lang="pt-BR" dirty="0" smtClean="0"/>
              <a:t>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656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2175"/>
          </a:xfrm>
        </p:spPr>
        <p:txBody>
          <a:bodyPr/>
          <a:lstStyle/>
          <a:p>
            <a:r>
              <a:rPr lang="pt-BR" dirty="0" smtClean="0"/>
              <a:t>Tópicos são usados para comunicação de fluxos de dados contínuos (dados do sensor, estado do robô,…).</a:t>
            </a:r>
          </a:p>
          <a:p>
            <a:r>
              <a:rPr lang="pt-BR" sz="2800" dirty="0" smtClean="0"/>
              <a:t>Conexão de muitos para muitos (unidirecional). </a:t>
            </a:r>
            <a:endParaRPr lang="pt-BR" dirty="0" smtClean="0"/>
          </a:p>
          <a:p>
            <a:r>
              <a:rPr lang="pt-BR" dirty="0" smtClean="0"/>
              <a:t>Os dados podem ser publicados/subscritos a qualquer momento, independentemente de remetentes/destinatários. </a:t>
            </a:r>
          </a:p>
          <a:p>
            <a:r>
              <a:rPr lang="pt-BR" dirty="0" err="1" smtClean="0"/>
              <a:t>Publishers</a:t>
            </a:r>
            <a:r>
              <a:rPr lang="pt-BR" dirty="0" smtClean="0"/>
              <a:t> decidem quando os dados são enviados.</a:t>
            </a:r>
          </a:p>
          <a:p>
            <a:r>
              <a:rPr lang="pt-BR" dirty="0" err="1" smtClean="0"/>
              <a:t>Subscribers</a:t>
            </a:r>
            <a:r>
              <a:rPr lang="pt-BR" dirty="0" smtClean="0"/>
              <a:t> recebem dados assim que estiverem disponíveis.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0713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Serviços</a:t>
            </a:r>
            <a:endParaRPr lang="pt-BR" dirty="0"/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838199" y="1825624"/>
            <a:ext cx="11205117" cy="5032375"/>
          </a:xfrm>
        </p:spPr>
        <p:txBody>
          <a:bodyPr>
            <a:normAutofit/>
          </a:bodyPr>
          <a:lstStyle/>
          <a:p>
            <a:r>
              <a:rPr lang="pt-BR" dirty="0" smtClean="0"/>
              <a:t>Serviços são usados para chamadas de procedimentos remotos que terminam rapidamente (consultar o estado de um nó, fazer um cálculo rápido, ...) </a:t>
            </a:r>
          </a:p>
          <a:p>
            <a:r>
              <a:rPr lang="pt-BR" dirty="0" smtClean="0"/>
              <a:t>Serviços nunca devem ser usados ​​para processos de execução mais longa, em particular processos que possam precisar de preempção, caso ocorram situações excepcionais.</a:t>
            </a:r>
          </a:p>
          <a:p>
            <a:r>
              <a:rPr lang="pt-BR" dirty="0" smtClean="0"/>
              <a:t>Conexão bidirecional (cliente-servidor).</a:t>
            </a:r>
          </a:p>
          <a:p>
            <a:r>
              <a:rPr lang="pt-BR" dirty="0" smtClean="0"/>
              <a:t>A solicitação de um serviço não pode ser cancelada pelo cliente e nem negada pelo servidor.</a:t>
            </a:r>
          </a:p>
          <a:p>
            <a:r>
              <a:rPr lang="pt-BR" dirty="0" smtClean="0"/>
              <a:t>O cliente não possui nenhuma ideia sobre o andamento da sua solicitação.</a:t>
            </a:r>
          </a:p>
        </p:txBody>
      </p:sp>
    </p:spTree>
    <p:extLst>
      <p:ext uri="{BB962C8B-B14F-4D97-AF65-F5344CB8AC3E}">
        <p14:creationId xmlns:p14="http://schemas.microsoft.com/office/powerpoint/2010/main" val="397812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Ações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690688"/>
            <a:ext cx="11353800" cy="4151429"/>
          </a:xfrm>
        </p:spPr>
        <p:txBody>
          <a:bodyPr>
            <a:noAutofit/>
          </a:bodyPr>
          <a:lstStyle/>
          <a:p>
            <a:r>
              <a:rPr lang="pt-BR" dirty="0" smtClean="0"/>
              <a:t>Ações devem ser usadas para comportamentos que funcionem por mais tempo e que forneçam feedback durante sua execução</a:t>
            </a:r>
            <a:r>
              <a:rPr lang="pt-BR" dirty="0"/>
              <a:t>. </a:t>
            </a:r>
            <a:endParaRPr lang="pt-BR" dirty="0" smtClean="0"/>
          </a:p>
          <a:p>
            <a:r>
              <a:rPr lang="pt-BR" dirty="0" smtClean="0"/>
              <a:t>Rotinas </a:t>
            </a:r>
            <a:r>
              <a:rPr lang="pt-BR" dirty="0"/>
              <a:t>de percepção lenta que levam vários segundos para terminar ou </a:t>
            </a:r>
            <a:r>
              <a:rPr lang="pt-BR" dirty="0" smtClean="0"/>
              <a:t>um processo de </a:t>
            </a:r>
            <a:r>
              <a:rPr lang="pt-BR" dirty="0"/>
              <a:t>controle de nível inferior são bons casos de uso para ações</a:t>
            </a:r>
            <a:r>
              <a:rPr lang="pt-BR" dirty="0" smtClean="0"/>
              <a:t>.</a:t>
            </a:r>
          </a:p>
          <a:p>
            <a:r>
              <a:rPr lang="pt-BR" dirty="0" smtClean="0"/>
              <a:t>Ações podem ser canceladas e a preempção deve ser tratada de forma transparente pelos servidores de ação.</a:t>
            </a:r>
          </a:p>
          <a:p>
            <a:r>
              <a:rPr lang="pt-BR" dirty="0" smtClean="0"/>
              <a:t>Um servidor de ações pode atender múltiplos objetivos simultaneamente e em paralelo.</a:t>
            </a:r>
            <a:r>
              <a:rPr lang="pt-BR" dirty="0"/>
              <a:t> P</a:t>
            </a:r>
            <a:r>
              <a:rPr lang="pt-BR" dirty="0" smtClean="0"/>
              <a:t>ara cada cliente uma instância de estado separada pode ser mantida, uma vez que o objetivo é identificado exclusivamente pelo seu id.</a:t>
            </a:r>
          </a:p>
        </p:txBody>
      </p:sp>
    </p:spTree>
    <p:extLst>
      <p:ext uri="{BB962C8B-B14F-4D97-AF65-F5344CB8AC3E}">
        <p14:creationId xmlns:p14="http://schemas.microsoft.com/office/powerpoint/2010/main" val="313131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Publisher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Subscriber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/>
          <p:cNvCxnSpPr>
            <a:stCxn id="4" idx="6"/>
            <a:endCxn id="5" idx="2"/>
          </p:cNvCxnSpPr>
          <p:nvPr/>
        </p:nvCxnSpPr>
        <p:spPr>
          <a:xfrm>
            <a:off x="2653990" y="3389971"/>
            <a:ext cx="5939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7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lipse 10"/>
          <p:cNvSpPr/>
          <p:nvPr/>
        </p:nvSpPr>
        <p:spPr>
          <a:xfrm>
            <a:off x="2442117" y="3278458"/>
            <a:ext cx="211873" cy="22302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Tópicos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Publisher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Subscriber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/>
          <p:cNvCxnSpPr>
            <a:stCxn id="4" idx="6"/>
            <a:endCxn id="3" idx="1"/>
          </p:cNvCxnSpPr>
          <p:nvPr/>
        </p:nvCxnSpPr>
        <p:spPr>
          <a:xfrm flipV="1">
            <a:off x="2653990" y="3389970"/>
            <a:ext cx="25527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5206736" y="2665141"/>
            <a:ext cx="834390" cy="14496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Tópico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8" name="Conector de seta reta 7"/>
          <p:cNvCxnSpPr>
            <a:stCxn id="3" idx="3"/>
            <a:endCxn id="5" idx="2"/>
          </p:cNvCxnSpPr>
          <p:nvPr/>
        </p:nvCxnSpPr>
        <p:spPr>
          <a:xfrm>
            <a:off x="6041126" y="3389970"/>
            <a:ext cx="255274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278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2.96296E-6 L 0.50534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26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Serviços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Cliente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Servidor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/>
          <p:cNvCxnSpPr>
            <a:stCxn id="4" idx="6"/>
            <a:endCxn id="5" idx="2"/>
          </p:cNvCxnSpPr>
          <p:nvPr/>
        </p:nvCxnSpPr>
        <p:spPr>
          <a:xfrm>
            <a:off x="2653990" y="3389971"/>
            <a:ext cx="593988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68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lipse 13"/>
          <p:cNvSpPr/>
          <p:nvPr/>
        </p:nvSpPr>
        <p:spPr>
          <a:xfrm>
            <a:off x="2138368" y="2856106"/>
            <a:ext cx="211873" cy="22302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7687122" y="3695647"/>
            <a:ext cx="211873" cy="22302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Serviços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Cliente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Servidor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7657171" y="2798956"/>
            <a:ext cx="936702" cy="11262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Serviço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8" name="Conector de seta reta 7"/>
          <p:cNvCxnSpPr>
            <a:stCxn id="4" idx="7"/>
          </p:cNvCxnSpPr>
          <p:nvPr/>
        </p:nvCxnSpPr>
        <p:spPr>
          <a:xfrm>
            <a:off x="2350241" y="2877439"/>
            <a:ext cx="5306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endCxn id="4" idx="5"/>
          </p:cNvCxnSpPr>
          <p:nvPr/>
        </p:nvCxnSpPr>
        <p:spPr>
          <a:xfrm flipH="1" flipV="1">
            <a:off x="2350241" y="3902503"/>
            <a:ext cx="5306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1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1.11111E-6 L 0.45443 -0.00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21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2.59259E-6 L -0.45547 0.00648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773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Ações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Cliente da Ação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Servidor da Ação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/>
          <p:cNvCxnSpPr>
            <a:stCxn id="4" idx="6"/>
            <a:endCxn id="5" idx="2"/>
          </p:cNvCxnSpPr>
          <p:nvPr/>
        </p:nvCxnSpPr>
        <p:spPr>
          <a:xfrm>
            <a:off x="2653990" y="3389971"/>
            <a:ext cx="5939883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524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Ações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Cliente da Ação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Servidor da Ação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/>
          <p:cNvCxnSpPr>
            <a:stCxn id="4" idx="6"/>
            <a:endCxn id="6" idx="1"/>
          </p:cNvCxnSpPr>
          <p:nvPr/>
        </p:nvCxnSpPr>
        <p:spPr>
          <a:xfrm>
            <a:off x="2653990" y="3389971"/>
            <a:ext cx="2672761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5326751" y="2826834"/>
            <a:ext cx="936702" cy="11262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Ação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de seta reta 8"/>
          <p:cNvCxnSpPr>
            <a:stCxn id="6" idx="3"/>
            <a:endCxn id="5" idx="2"/>
          </p:cNvCxnSpPr>
          <p:nvPr/>
        </p:nvCxnSpPr>
        <p:spPr>
          <a:xfrm>
            <a:off x="6263453" y="3389971"/>
            <a:ext cx="2330420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182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Ações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57986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Cliente da Ação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8593873" y="2665142"/>
            <a:ext cx="2074127" cy="14496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Servidor da Ação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" name="Conector de seta reta 6"/>
          <p:cNvCxnSpPr>
            <a:stCxn id="4" idx="6"/>
            <a:endCxn id="6" idx="1"/>
          </p:cNvCxnSpPr>
          <p:nvPr/>
        </p:nvCxnSpPr>
        <p:spPr>
          <a:xfrm flipV="1">
            <a:off x="2653990" y="3388995"/>
            <a:ext cx="1952300" cy="97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4606290" y="1383030"/>
            <a:ext cx="1897380" cy="40119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9" name="Conector de seta reta 8"/>
          <p:cNvCxnSpPr>
            <a:stCxn id="6" idx="3"/>
            <a:endCxn id="5" idx="2"/>
          </p:cNvCxnSpPr>
          <p:nvPr/>
        </p:nvCxnSpPr>
        <p:spPr>
          <a:xfrm>
            <a:off x="6503670" y="3388995"/>
            <a:ext cx="2090203" cy="976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tângulo 15"/>
          <p:cNvSpPr/>
          <p:nvPr/>
        </p:nvSpPr>
        <p:spPr>
          <a:xfrm>
            <a:off x="4909289" y="1683235"/>
            <a:ext cx="1280021" cy="5372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Send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 err="1" smtClean="0">
                <a:solidFill>
                  <a:schemeClr val="tx1"/>
                </a:solidFill>
              </a:rPr>
              <a:t>Goal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4909289" y="2393371"/>
            <a:ext cx="1280021" cy="5372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Cancel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 err="1" smtClean="0">
                <a:solidFill>
                  <a:schemeClr val="tx1"/>
                </a:solidFill>
              </a:rPr>
              <a:t>Goal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920649" y="3103507"/>
            <a:ext cx="1280021" cy="53721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Get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 err="1" smtClean="0">
                <a:solidFill>
                  <a:schemeClr val="tx1"/>
                </a:solidFill>
              </a:rPr>
              <a:t>Result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4909288" y="3813643"/>
            <a:ext cx="1280021" cy="5372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Feedback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4920649" y="4559545"/>
            <a:ext cx="1280021" cy="5372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Status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5237653" y="1057038"/>
            <a:ext cx="64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131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Send</a:t>
            </a:r>
            <a:r>
              <a:rPr lang="pt-BR" dirty="0"/>
              <a:t> </a:t>
            </a:r>
            <a:r>
              <a:rPr lang="pt-BR" dirty="0" err="1"/>
              <a:t>Goal</a:t>
            </a:r>
            <a:r>
              <a:rPr lang="pt-BR" dirty="0"/>
              <a:t> </a:t>
            </a:r>
            <a:r>
              <a:rPr lang="pt-BR" dirty="0" smtClean="0"/>
              <a:t>Service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purpose of this service is to send a goal to the action server. It is the first service called to begin an action, and is expected to return quickly. </a:t>
            </a:r>
          </a:p>
          <a:p>
            <a:r>
              <a:rPr lang="en-US" b="1" dirty="0"/>
              <a:t>Direction</a:t>
            </a:r>
            <a:r>
              <a:rPr lang="en-US" dirty="0"/>
              <a:t>: client calls server</a:t>
            </a:r>
          </a:p>
          <a:p>
            <a:r>
              <a:rPr lang="en-US" b="1" dirty="0"/>
              <a:t>Request</a:t>
            </a:r>
            <a:r>
              <a:rPr lang="en-US" dirty="0"/>
              <a:t>: description of goal and a UUID for the goal ID</a:t>
            </a:r>
          </a:p>
          <a:p>
            <a:r>
              <a:rPr lang="en-US" b="1" dirty="0"/>
              <a:t>Response</a:t>
            </a:r>
            <a:r>
              <a:rPr lang="en-US" dirty="0"/>
              <a:t>: whether goal was accepted or rejected and the time when the goal was </a:t>
            </a:r>
            <a:r>
              <a:rPr lang="en-US" dirty="0" smtClean="0"/>
              <a:t>accepted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29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Cancel</a:t>
            </a:r>
            <a:r>
              <a:rPr lang="pt-BR" dirty="0"/>
              <a:t> </a:t>
            </a:r>
            <a:r>
              <a:rPr lang="pt-BR" dirty="0" err="1"/>
              <a:t>Goal</a:t>
            </a:r>
            <a:r>
              <a:rPr lang="pt-BR" dirty="0"/>
              <a:t> </a:t>
            </a:r>
            <a:r>
              <a:rPr lang="pt-BR" dirty="0" smtClean="0"/>
              <a:t>Service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purpose of this service is to request the cancellation of one or more goals on the action server</a:t>
            </a:r>
            <a:r>
              <a:rPr lang="en-US" dirty="0" smtClean="0"/>
              <a:t>.</a:t>
            </a:r>
          </a:p>
          <a:p>
            <a:r>
              <a:rPr lang="en-US" b="1" dirty="0"/>
              <a:t>Direction</a:t>
            </a:r>
            <a:r>
              <a:rPr lang="en-US" dirty="0"/>
              <a:t>: client calls server</a:t>
            </a:r>
          </a:p>
          <a:p>
            <a:r>
              <a:rPr lang="en-US" b="1" dirty="0"/>
              <a:t>Request</a:t>
            </a:r>
            <a:r>
              <a:rPr lang="en-US" dirty="0"/>
              <a:t>: goal ID and timestamp</a:t>
            </a:r>
          </a:p>
          <a:p>
            <a:r>
              <a:rPr lang="en-US" b="1" dirty="0"/>
              <a:t>Response</a:t>
            </a:r>
            <a:r>
              <a:rPr lang="en-US" dirty="0"/>
              <a:t>: response code and a list of goals that have transitioned to the CANCELING state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18688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Get</a:t>
            </a:r>
            <a:r>
              <a:rPr lang="pt-BR" dirty="0"/>
              <a:t> </a:t>
            </a:r>
            <a:r>
              <a:rPr lang="pt-BR" dirty="0" err="1"/>
              <a:t>Result</a:t>
            </a:r>
            <a:r>
              <a:rPr lang="pt-BR" dirty="0"/>
              <a:t> Service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purpose of this service is to get the final result of a goal. After a goal has been accepted the client should call this service to receive the result. </a:t>
            </a:r>
            <a:endParaRPr lang="en-US" dirty="0" smtClean="0"/>
          </a:p>
          <a:p>
            <a:r>
              <a:rPr lang="en-US" b="1" dirty="0"/>
              <a:t>Direction</a:t>
            </a:r>
            <a:r>
              <a:rPr lang="en-US" dirty="0"/>
              <a:t>: client calls server</a:t>
            </a:r>
          </a:p>
          <a:p>
            <a:r>
              <a:rPr lang="en-US" b="1" dirty="0"/>
              <a:t>Request</a:t>
            </a:r>
            <a:r>
              <a:rPr lang="en-US" dirty="0"/>
              <a:t>: goal ID</a:t>
            </a:r>
          </a:p>
          <a:p>
            <a:r>
              <a:rPr lang="en-US" b="1" dirty="0"/>
              <a:t>Response</a:t>
            </a:r>
            <a:r>
              <a:rPr lang="en-US" dirty="0"/>
              <a:t>: status of goal and user defined result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979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Goal</a:t>
            </a:r>
            <a:r>
              <a:rPr lang="pt-BR" dirty="0"/>
              <a:t> Status </a:t>
            </a:r>
            <a:r>
              <a:rPr lang="pt-BR" dirty="0" err="1"/>
              <a:t>Topic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topic is published by the server to broadcast the status of goals it has accepted. The purpose of the topic is for introspection; it is not used by the action client. Messages are published when transitions from one status to </a:t>
            </a:r>
            <a:r>
              <a:rPr lang="en-US" dirty="0" smtClean="0"/>
              <a:t>another </a:t>
            </a:r>
            <a:r>
              <a:rPr lang="en-US" dirty="0"/>
              <a:t>occur</a:t>
            </a:r>
            <a:r>
              <a:rPr lang="en-US" dirty="0" smtClean="0"/>
              <a:t>.</a:t>
            </a:r>
          </a:p>
          <a:p>
            <a:r>
              <a:rPr lang="en-US" b="1" dirty="0"/>
              <a:t>Direction</a:t>
            </a:r>
            <a:r>
              <a:rPr lang="en-US" dirty="0"/>
              <a:t>: server publishes</a:t>
            </a:r>
          </a:p>
          <a:p>
            <a:r>
              <a:rPr lang="en-US" b="1" dirty="0"/>
              <a:t>Content</a:t>
            </a:r>
            <a:r>
              <a:rPr lang="en-US" dirty="0"/>
              <a:t>: list of in-progress goals with goal ID, time accepted, and an </a:t>
            </a:r>
            <a:r>
              <a:rPr lang="en-US" dirty="0" err="1"/>
              <a:t>enum</a:t>
            </a:r>
            <a:r>
              <a:rPr lang="en-US" dirty="0"/>
              <a:t> indicating the status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563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Feedback </a:t>
            </a:r>
            <a:r>
              <a:rPr lang="pt-BR" dirty="0" err="1" smtClean="0"/>
              <a:t>Topic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topic is published by the server to send progress feedback about the </a:t>
            </a:r>
            <a:r>
              <a:rPr lang="en-US" dirty="0" smtClean="0"/>
              <a:t>goal. </a:t>
            </a:r>
            <a:r>
              <a:rPr lang="en-US" dirty="0"/>
              <a:t>It is up to the author of the action server to decide how often to publish the feedback</a:t>
            </a:r>
            <a:r>
              <a:rPr lang="en-US" dirty="0" smtClean="0"/>
              <a:t>.</a:t>
            </a:r>
          </a:p>
          <a:p>
            <a:r>
              <a:rPr lang="en-US" b="1" dirty="0"/>
              <a:t>Direction</a:t>
            </a:r>
            <a:r>
              <a:rPr lang="en-US" dirty="0"/>
              <a:t>: server publishes</a:t>
            </a:r>
          </a:p>
          <a:p>
            <a:r>
              <a:rPr lang="en-US" b="1" dirty="0"/>
              <a:t>Content</a:t>
            </a:r>
            <a:r>
              <a:rPr lang="en-US" dirty="0"/>
              <a:t>: goal ID, user defined feedback message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383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Executando uma Ação</a:t>
            </a:r>
            <a:endParaRPr lang="pt-BR" dirty="0"/>
          </a:p>
        </p:txBody>
      </p:sp>
      <p:pic>
        <p:nvPicPr>
          <p:cNvPr id="1026" name="Picture 2" descr="../../../_images/Action-SingleActionClient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657" y="1690688"/>
            <a:ext cx="8782685" cy="493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881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PIM: Missão Identificação de Pessoas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Sumário: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O robô deve interagir com um humano para saber o nome da pessoa a ser identificada.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Uma vez conhecido o nome, o robô realiza o treinamento para o reconhecimento facial.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Ao final do treinamento, o robô deverá girar e tentar localizar a pessoa de interesse no meio de uma multidão.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Ao localizar a pessoa na multidão, o robô marca a posição da pessoa em uma imagem e conclui a missão.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382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PIM - Diagrama de Estados</a:t>
            </a:r>
            <a:endParaRPr lang="pt-BR" dirty="0"/>
          </a:p>
        </p:txBody>
      </p:sp>
      <p:sp>
        <p:nvSpPr>
          <p:cNvPr id="4" name="Retângulo de cantos arredondados 3"/>
          <p:cNvSpPr/>
          <p:nvPr/>
        </p:nvSpPr>
        <p:spPr>
          <a:xfrm>
            <a:off x="838200" y="1946227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Starting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5" name="Retângulo de cantos arredondados 4"/>
          <p:cNvSpPr/>
          <p:nvPr/>
        </p:nvSpPr>
        <p:spPr>
          <a:xfrm>
            <a:off x="3687446" y="1934798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Started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Retângulo de cantos arredondados 5"/>
          <p:cNvSpPr/>
          <p:nvPr/>
        </p:nvSpPr>
        <p:spPr>
          <a:xfrm>
            <a:off x="6572173" y="1934798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Waiting</a:t>
            </a:r>
            <a:r>
              <a:rPr lang="pt-BR" dirty="0" smtClean="0">
                <a:solidFill>
                  <a:schemeClr val="tx1"/>
                </a:solidFill>
              </a:rPr>
              <a:t> for </a:t>
            </a:r>
            <a:r>
              <a:rPr lang="pt-BR" dirty="0" err="1" smtClean="0">
                <a:solidFill>
                  <a:schemeClr val="tx1"/>
                </a:solidFill>
              </a:rPr>
              <a:t>Name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8" name="Conector de seta reta 7"/>
          <p:cNvCxnSpPr/>
          <p:nvPr/>
        </p:nvCxnSpPr>
        <p:spPr>
          <a:xfrm flipV="1">
            <a:off x="2493384" y="2391998"/>
            <a:ext cx="1157246" cy="11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5342630" y="2391998"/>
            <a:ext cx="1192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5504717" y="2058442"/>
            <a:ext cx="8826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G</a:t>
            </a:r>
            <a:r>
              <a:rPr lang="pt-BR" sz="1400" dirty="0" err="1" smtClean="0"/>
              <a:t>etName</a:t>
            </a:r>
            <a:endParaRPr lang="pt-BR" sz="1400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9456900" y="1934798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Identified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14" name="Conector de seta reta 13"/>
          <p:cNvCxnSpPr/>
          <p:nvPr/>
        </p:nvCxnSpPr>
        <p:spPr>
          <a:xfrm>
            <a:off x="8227357" y="2391998"/>
            <a:ext cx="11927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tângulo de cantos arredondados 14"/>
          <p:cNvSpPr/>
          <p:nvPr/>
        </p:nvSpPr>
        <p:spPr>
          <a:xfrm>
            <a:off x="9456900" y="3760679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Waiting</a:t>
            </a:r>
            <a:r>
              <a:rPr lang="pt-BR" dirty="0" smtClean="0">
                <a:solidFill>
                  <a:schemeClr val="tx1"/>
                </a:solidFill>
              </a:rPr>
              <a:t> for </a:t>
            </a:r>
            <a:r>
              <a:rPr lang="pt-BR" dirty="0" err="1" smtClean="0">
                <a:solidFill>
                  <a:schemeClr val="tx1"/>
                </a:solidFill>
              </a:rPr>
              <a:t>Trainning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CaixaDeTexto 16"/>
          <p:cNvSpPr txBox="1"/>
          <p:nvPr/>
        </p:nvSpPr>
        <p:spPr>
          <a:xfrm>
            <a:off x="10302900" y="3151049"/>
            <a:ext cx="991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G</a:t>
            </a:r>
            <a:r>
              <a:rPr lang="pt-BR" sz="1400" dirty="0" err="1" smtClean="0"/>
              <a:t>etTrained</a:t>
            </a:r>
            <a:endParaRPr lang="pt-BR" sz="1400" dirty="0"/>
          </a:p>
        </p:txBody>
      </p:sp>
      <p:sp>
        <p:nvSpPr>
          <p:cNvPr id="33" name="Retângulo de cantos arredondados 32"/>
          <p:cNvSpPr/>
          <p:nvPr/>
        </p:nvSpPr>
        <p:spPr>
          <a:xfrm>
            <a:off x="929717" y="3701684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Turned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4" name="Retângulo de cantos arredondados 33"/>
          <p:cNvSpPr/>
          <p:nvPr/>
        </p:nvSpPr>
        <p:spPr>
          <a:xfrm>
            <a:off x="3679586" y="3722103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Waiting</a:t>
            </a:r>
            <a:r>
              <a:rPr lang="pt-BR" dirty="0" smtClean="0">
                <a:solidFill>
                  <a:schemeClr val="tx1"/>
                </a:solidFill>
              </a:rPr>
              <a:t> for Spin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5437062" y="3910102"/>
            <a:ext cx="1067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 smtClean="0"/>
              <a:t>ExecuteSpin</a:t>
            </a:r>
            <a:endParaRPr lang="pt-BR" sz="1400" dirty="0"/>
          </a:p>
        </p:txBody>
      </p:sp>
      <p:sp>
        <p:nvSpPr>
          <p:cNvPr id="38" name="Retângulo de cantos arredondados 37"/>
          <p:cNvSpPr/>
          <p:nvPr/>
        </p:nvSpPr>
        <p:spPr>
          <a:xfrm>
            <a:off x="6568243" y="3760679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Trained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2" name="CaixaDeTexto 41"/>
          <p:cNvSpPr txBox="1"/>
          <p:nvPr/>
        </p:nvSpPr>
        <p:spPr>
          <a:xfrm>
            <a:off x="929717" y="4942195"/>
            <a:ext cx="9089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 smtClean="0"/>
              <a:t>SearchFor</a:t>
            </a:r>
            <a:endParaRPr lang="pt-BR" sz="1400" dirty="0"/>
          </a:p>
        </p:txBody>
      </p:sp>
      <p:sp>
        <p:nvSpPr>
          <p:cNvPr id="45" name="Retângulo de cantos arredondados 44"/>
          <p:cNvSpPr/>
          <p:nvPr/>
        </p:nvSpPr>
        <p:spPr>
          <a:xfrm>
            <a:off x="3677743" y="5624825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Found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6" name="Retângulo de cantos arredondados 45"/>
          <p:cNvSpPr/>
          <p:nvPr/>
        </p:nvSpPr>
        <p:spPr>
          <a:xfrm>
            <a:off x="6605059" y="5668460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Waiting</a:t>
            </a:r>
            <a:r>
              <a:rPr lang="pt-BR" dirty="0" smtClean="0">
                <a:solidFill>
                  <a:schemeClr val="tx1"/>
                </a:solidFill>
              </a:rPr>
              <a:t> for Final </a:t>
            </a:r>
            <a:r>
              <a:rPr lang="pt-BR" dirty="0" err="1" smtClean="0">
                <a:solidFill>
                  <a:schemeClr val="tx1"/>
                </a:solidFill>
              </a:rPr>
              <a:t>Remarks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8" name="Retângulo de cantos arredondados 47"/>
          <p:cNvSpPr/>
          <p:nvPr/>
        </p:nvSpPr>
        <p:spPr>
          <a:xfrm>
            <a:off x="9456900" y="5668460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Misson</a:t>
            </a:r>
            <a:r>
              <a:rPr lang="pt-BR" dirty="0" smtClean="0">
                <a:solidFill>
                  <a:schemeClr val="tx1"/>
                </a:solidFill>
              </a:rPr>
              <a:t> </a:t>
            </a:r>
            <a:r>
              <a:rPr lang="pt-BR" dirty="0" err="1" smtClean="0">
                <a:solidFill>
                  <a:schemeClr val="tx1"/>
                </a:solidFill>
              </a:rPr>
              <a:t>Acompplished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5379446" y="5748468"/>
            <a:ext cx="12159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 smtClean="0"/>
              <a:t>SaySomething</a:t>
            </a:r>
            <a:endParaRPr lang="pt-BR" sz="1400" dirty="0"/>
          </a:p>
        </p:txBody>
      </p:sp>
      <p:sp>
        <p:nvSpPr>
          <p:cNvPr id="35" name="Retângulo de cantos arredondados 34"/>
          <p:cNvSpPr/>
          <p:nvPr/>
        </p:nvSpPr>
        <p:spPr>
          <a:xfrm>
            <a:off x="942843" y="5624825"/>
            <a:ext cx="16920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Waiting</a:t>
            </a:r>
            <a:r>
              <a:rPr lang="pt-BR" dirty="0" smtClean="0">
                <a:solidFill>
                  <a:schemeClr val="tx1"/>
                </a:solidFill>
              </a:rPr>
              <a:t> for </a:t>
            </a:r>
            <a:r>
              <a:rPr lang="pt-BR" dirty="0" err="1" smtClean="0">
                <a:solidFill>
                  <a:schemeClr val="tx1"/>
                </a:solidFill>
              </a:rPr>
              <a:t>Recognition</a:t>
            </a:r>
            <a:endParaRPr lang="pt-BR" dirty="0">
              <a:solidFill>
                <a:schemeClr val="tx1"/>
              </a:solidFill>
            </a:endParaRPr>
          </a:p>
        </p:txBody>
      </p:sp>
      <p:cxnSp>
        <p:nvCxnSpPr>
          <p:cNvPr id="72" name="Conector de seta reta 71"/>
          <p:cNvCxnSpPr>
            <a:stCxn id="13" idx="2"/>
            <a:endCxn id="15" idx="0"/>
          </p:cNvCxnSpPr>
          <p:nvPr/>
        </p:nvCxnSpPr>
        <p:spPr>
          <a:xfrm>
            <a:off x="10302900" y="2849198"/>
            <a:ext cx="0" cy="911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Conector de seta reta 73"/>
          <p:cNvCxnSpPr/>
          <p:nvPr/>
        </p:nvCxnSpPr>
        <p:spPr>
          <a:xfrm flipH="1">
            <a:off x="8223427" y="4217879"/>
            <a:ext cx="1196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Conector de seta reta 76"/>
          <p:cNvCxnSpPr/>
          <p:nvPr/>
        </p:nvCxnSpPr>
        <p:spPr>
          <a:xfrm flipH="1" flipV="1">
            <a:off x="5334770" y="4179303"/>
            <a:ext cx="1196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Conector de seta reta 78"/>
          <p:cNvCxnSpPr/>
          <p:nvPr/>
        </p:nvCxnSpPr>
        <p:spPr>
          <a:xfrm flipH="1" flipV="1">
            <a:off x="2584901" y="4158884"/>
            <a:ext cx="10578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ector de seta reta 80"/>
          <p:cNvCxnSpPr>
            <a:stCxn id="33" idx="2"/>
            <a:endCxn id="35" idx="0"/>
          </p:cNvCxnSpPr>
          <p:nvPr/>
        </p:nvCxnSpPr>
        <p:spPr>
          <a:xfrm>
            <a:off x="1775717" y="4616084"/>
            <a:ext cx="13126" cy="10087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35" idx="3"/>
            <a:endCxn id="45" idx="1"/>
          </p:cNvCxnSpPr>
          <p:nvPr/>
        </p:nvCxnSpPr>
        <p:spPr>
          <a:xfrm>
            <a:off x="2634843" y="6082025"/>
            <a:ext cx="10429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ector de seta reta 84"/>
          <p:cNvCxnSpPr>
            <a:stCxn id="45" idx="3"/>
            <a:endCxn id="46" idx="1"/>
          </p:cNvCxnSpPr>
          <p:nvPr/>
        </p:nvCxnSpPr>
        <p:spPr>
          <a:xfrm>
            <a:off x="5369743" y="6082025"/>
            <a:ext cx="12353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Conector de seta reta 86"/>
          <p:cNvCxnSpPr/>
          <p:nvPr/>
        </p:nvCxnSpPr>
        <p:spPr>
          <a:xfrm>
            <a:off x="8260243" y="6125660"/>
            <a:ext cx="11598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982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PIM – NÓS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3932664" y="2804528"/>
            <a:ext cx="2163336" cy="108166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 err="1" smtClean="0">
                <a:solidFill>
                  <a:schemeClr val="tx1"/>
                </a:solidFill>
              </a:rPr>
              <a:t>mission_control</a:t>
            </a: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5" name="Elipse 4"/>
          <p:cNvSpPr/>
          <p:nvPr/>
        </p:nvSpPr>
        <p:spPr>
          <a:xfrm>
            <a:off x="7627432" y="1373594"/>
            <a:ext cx="3757962" cy="1182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voice_speech_recognition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 rot="16200000">
            <a:off x="6832912" y="1264871"/>
            <a:ext cx="936702" cy="4627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>
                <a:solidFill>
                  <a:schemeClr val="tx1"/>
                </a:solidFill>
              </a:rPr>
              <a:t>G</a:t>
            </a:r>
            <a:r>
              <a:rPr lang="pt-BR" sz="1400" dirty="0" err="1" smtClean="0">
                <a:solidFill>
                  <a:schemeClr val="tx1"/>
                </a:solidFill>
              </a:rPr>
              <a:t>etName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 rot="16200000">
            <a:off x="6632191" y="2439330"/>
            <a:ext cx="1349297" cy="4627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 smtClean="0">
                <a:solidFill>
                  <a:schemeClr val="tx1"/>
                </a:solidFill>
              </a:rPr>
              <a:t>SaySomething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8" name="Elipse 7"/>
          <p:cNvSpPr/>
          <p:nvPr/>
        </p:nvSpPr>
        <p:spPr>
          <a:xfrm>
            <a:off x="7906214" y="4090066"/>
            <a:ext cx="2497874" cy="9947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f</a:t>
            </a:r>
            <a:r>
              <a:rPr lang="pt-BR" dirty="0" err="1" smtClean="0">
                <a:solidFill>
                  <a:schemeClr val="tx1"/>
                </a:solidFill>
              </a:rPr>
              <a:t>ace_recognition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 rot="16200000">
            <a:off x="6791737" y="3846531"/>
            <a:ext cx="1019056" cy="4627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 smtClean="0">
                <a:solidFill>
                  <a:schemeClr val="tx1"/>
                </a:solidFill>
              </a:rPr>
              <a:t>GetTrained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 rot="16200000">
            <a:off x="6812470" y="4889326"/>
            <a:ext cx="988740" cy="4627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 smtClean="0">
                <a:solidFill>
                  <a:schemeClr val="tx1"/>
                </a:solidFill>
              </a:rPr>
              <a:t>SearchFor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1" name="Elipse 10"/>
          <p:cNvSpPr/>
          <p:nvPr/>
        </p:nvSpPr>
        <p:spPr>
          <a:xfrm>
            <a:off x="3830445" y="5615083"/>
            <a:ext cx="2367774" cy="9859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 smtClean="0">
                <a:solidFill>
                  <a:schemeClr val="tx1"/>
                </a:solidFill>
              </a:rPr>
              <a:t>navigation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2" name="Elipse 11"/>
          <p:cNvSpPr/>
          <p:nvPr/>
        </p:nvSpPr>
        <p:spPr>
          <a:xfrm>
            <a:off x="172844" y="2852410"/>
            <a:ext cx="2367774" cy="9859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</a:rPr>
              <a:t>c</a:t>
            </a:r>
            <a:r>
              <a:rPr lang="pt-BR" dirty="0" err="1" smtClean="0">
                <a:solidFill>
                  <a:schemeClr val="tx1"/>
                </a:solidFill>
              </a:rPr>
              <a:t>ontrol_panel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 rot="16200000">
            <a:off x="2641762" y="3113977"/>
            <a:ext cx="1282695" cy="46277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smtClean="0">
                <a:solidFill>
                  <a:schemeClr val="tx1"/>
                </a:solidFill>
              </a:rPr>
              <a:t>Status</a:t>
            </a:r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4473307" y="5120712"/>
            <a:ext cx="1077950" cy="46277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 err="1" smtClean="0">
                <a:solidFill>
                  <a:schemeClr val="tx1"/>
                </a:solidFill>
              </a:rPr>
              <a:t>ExecuteSpin</a:t>
            </a:r>
            <a:endParaRPr lang="pt-BR" sz="1400" dirty="0">
              <a:solidFill>
                <a:schemeClr val="tx1"/>
              </a:solidFill>
            </a:endParaRPr>
          </a:p>
        </p:txBody>
      </p:sp>
      <p:cxnSp>
        <p:nvCxnSpPr>
          <p:cNvPr id="15" name="Conector de seta reta 14"/>
          <p:cNvCxnSpPr>
            <a:stCxn id="13" idx="0"/>
            <a:endCxn id="12" idx="6"/>
          </p:cNvCxnSpPr>
          <p:nvPr/>
        </p:nvCxnSpPr>
        <p:spPr>
          <a:xfrm flipH="1">
            <a:off x="2540618" y="3345363"/>
            <a:ext cx="51110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>
            <a:stCxn id="4" idx="2"/>
            <a:endCxn id="13" idx="2"/>
          </p:cNvCxnSpPr>
          <p:nvPr/>
        </p:nvCxnSpPr>
        <p:spPr>
          <a:xfrm flipH="1">
            <a:off x="3514496" y="3345363"/>
            <a:ext cx="41816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4" idx="7"/>
            <a:endCxn id="6" idx="0"/>
          </p:cNvCxnSpPr>
          <p:nvPr/>
        </p:nvCxnSpPr>
        <p:spPr>
          <a:xfrm flipV="1">
            <a:off x="5779187" y="1496258"/>
            <a:ext cx="1290690" cy="14666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4" idx="6"/>
            <a:endCxn id="7" idx="0"/>
          </p:cNvCxnSpPr>
          <p:nvPr/>
        </p:nvCxnSpPr>
        <p:spPr>
          <a:xfrm flipV="1">
            <a:off x="6096000" y="2670716"/>
            <a:ext cx="979453" cy="6746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4" idx="6"/>
            <a:endCxn id="9" idx="0"/>
          </p:cNvCxnSpPr>
          <p:nvPr/>
        </p:nvCxnSpPr>
        <p:spPr>
          <a:xfrm>
            <a:off x="6096000" y="3345363"/>
            <a:ext cx="973879" cy="7325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>
            <a:stCxn id="4" idx="5"/>
            <a:endCxn id="10" idx="0"/>
          </p:cNvCxnSpPr>
          <p:nvPr/>
        </p:nvCxnSpPr>
        <p:spPr>
          <a:xfrm>
            <a:off x="5779187" y="3727790"/>
            <a:ext cx="1296267" cy="13929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>
            <a:stCxn id="4" idx="4"/>
            <a:endCxn id="14" idx="0"/>
          </p:cNvCxnSpPr>
          <p:nvPr/>
        </p:nvCxnSpPr>
        <p:spPr>
          <a:xfrm flipH="1">
            <a:off x="5012282" y="3886197"/>
            <a:ext cx="2050" cy="12345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426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PIM - Diagrama de </a:t>
            </a:r>
            <a:r>
              <a:rPr lang="pt-BR" dirty="0" smtClean="0"/>
              <a:t>Sequencia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57" y="1482969"/>
            <a:ext cx="5047587" cy="5375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104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735</Words>
  <Application>Microsoft Office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Tema do Office</vt:lpstr>
      <vt:lpstr>Controle de Missões</vt:lpstr>
      <vt:lpstr>Comunicação entre Nós</vt:lpstr>
      <vt:lpstr>Tópicos</vt:lpstr>
      <vt:lpstr>Serviços</vt:lpstr>
      <vt:lpstr>Ações</vt:lpstr>
      <vt:lpstr>Tópicos</vt:lpstr>
      <vt:lpstr>Tópicos</vt:lpstr>
      <vt:lpstr>Serviços</vt:lpstr>
      <vt:lpstr>Serviços</vt:lpstr>
      <vt:lpstr>Ações</vt:lpstr>
      <vt:lpstr>Ações</vt:lpstr>
      <vt:lpstr>Ações</vt:lpstr>
      <vt:lpstr>Send Goal Service</vt:lpstr>
      <vt:lpstr>Cancel Goal Service</vt:lpstr>
      <vt:lpstr>Get Result Service</vt:lpstr>
      <vt:lpstr>Goal Status Topic</vt:lpstr>
      <vt:lpstr>Feedback Topic</vt:lpstr>
      <vt:lpstr>Executando uma Ação</vt:lpstr>
      <vt:lpstr>PIM: Missão Identificação de Pessoas</vt:lpstr>
      <vt:lpstr>PIM - Diagrama de Estados</vt:lpstr>
      <vt:lpstr>PIM – NÓS</vt:lpstr>
      <vt:lpstr>PIM - Diagrama de Sequencia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de Missões</dc:title>
  <dc:creator>Jorge Campos</dc:creator>
  <cp:lastModifiedBy>Jorge Campos</cp:lastModifiedBy>
  <cp:revision>30</cp:revision>
  <dcterms:created xsi:type="dcterms:W3CDTF">2025-02-07T11:53:16Z</dcterms:created>
  <dcterms:modified xsi:type="dcterms:W3CDTF">2025-02-19T17:26:07Z</dcterms:modified>
</cp:coreProperties>
</file>